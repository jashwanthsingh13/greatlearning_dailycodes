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QL Database Transactions and ACID Properties" id="{C2D553EE-3912-462B-AF89-C310C2D9B001}">
          <p14:sldIdLst>
            <p14:sldId id="2561"/>
          </p14:sldIdLst>
        </p14:section>
        <p14:section name="SQL Database Transactions and ACID Properties" id="{8DEF6792-EC48-47B4-839E-DDAAF06259E8}">
          <p14:sldIdLst>
            <p14:sldId id="2562"/>
            <p14:sldId id="2563"/>
            <p14:sldId id="2564"/>
            <p14:sldId id="2565"/>
            <p14:sldId id="2566"/>
            <p14:sldId id="2567"/>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637AB4-A454-5F98-C686-22613755D63D}" v="12" dt="2026-05-02T03:38:59.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DCF3B0-36B0-4E79-8B03-ADD9E7428C42}" type="datetimeFigureOut">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68A8F2-3FC8-4797-812C-888C89B35146}" type="slidenum">
              <a:t>‹#›</a:t>
            </a:fld>
            <a:endParaRPr lang="en-US"/>
          </a:p>
        </p:txBody>
      </p:sp>
    </p:spTree>
    <p:extLst>
      <p:ext uri="{BB962C8B-B14F-4D97-AF65-F5344CB8AC3E}">
        <p14:creationId xmlns:p14="http://schemas.microsoft.com/office/powerpoint/2010/main" val="4280756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E98A25C-7D8B-4DBC-AEAB-F974A92CFB92}" type="slidenum">
              <a:t>1</a:t>
            </a:fld>
            <a:endParaRPr lang="en-US"/>
          </a:p>
        </p:txBody>
      </p:sp>
    </p:spTree>
    <p:extLst>
      <p:ext uri="{BB962C8B-B14F-4D97-AF65-F5344CB8AC3E}">
        <p14:creationId xmlns:p14="http://schemas.microsoft.com/office/powerpoint/2010/main" val="390541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SQL Database Transactions, What is a Database Transaction?, Transaction States, ACID Properties Overview, Atomicity and Consistency, Isolation and Durability, Conclusion</a:t>
            </a:r>
          </a:p>
        </p:txBody>
      </p:sp>
      <p:sp>
        <p:nvSpPr>
          <p:cNvPr id="4" name="Slide Number Placeholder 3"/>
          <p:cNvSpPr>
            <a:spLocks noGrp="1"/>
          </p:cNvSpPr>
          <p:nvPr>
            <p:ph type="sldNum" sz="quarter" idx="5"/>
          </p:nvPr>
        </p:nvSpPr>
        <p:spPr/>
        <p:txBody>
          <a:bodyPr/>
          <a:lstStyle/>
          <a:p>
            <a:fld id="{5E98A25C-7D8B-4DBC-AEAB-F974A92CFB92}" type="slidenum">
              <a:t>2</a:t>
            </a:fld>
            <a:endParaRPr lang="en-US"/>
          </a:p>
        </p:txBody>
      </p:sp>
    </p:spTree>
    <p:extLst>
      <p:ext uri="{BB962C8B-B14F-4D97-AF65-F5344CB8AC3E}">
        <p14:creationId xmlns:p14="http://schemas.microsoft.com/office/powerpoint/2010/main" val="739286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SQL database transactions are a fundamental mechanism used to ensure that data operations are performed reliably and correctly in multi-user and real-world systems. A transaction represents a logical unit of work that may consist of one or more SQL statements such as INSERT, UPDATE, DELETE, or SELECT. These operations are grouped together because they are logically connected and must either all succeed together or fail together. In practical applications like banking systems, shopping platforms, or ticket booking services, a single user action often triggers multiple database changes behind the scenes. Transactions ensure that these changes do not leave the database in an incomplete or incorrect state. The importance of transactions becomes especially clear when failures occur, such as power outages, system crashes, or application errors. Without transactions, partial updates could be saved, leading to inconsistent or corrupted data. This is where ACID properties come into play. ACID—Atomicity, Consistency, Isolation, and Durability—defines a set of rules that guarantee transactions behave in a safe and predictable manner. These properties ensure that even in complex environments with thousands of users accessing the database simultaneously, the data remains accurate and trustworthy. A common real-life example is booking a movie ticket online. When a user selects a seat and makes a payment, both actions must be completed together. If the payment fails, the seat should not be reserved. Transactions combined with ACID properties make sure that such operations behave exactly as users expect, building trust in digital systems.</a:t>
            </a:r>
          </a:p>
        </p:txBody>
      </p:sp>
      <p:sp>
        <p:nvSpPr>
          <p:cNvPr id="4" name="Slide Number Placeholder 3"/>
          <p:cNvSpPr>
            <a:spLocks noGrp="1"/>
          </p:cNvSpPr>
          <p:nvPr>
            <p:ph type="sldNum" sz="quarter" idx="5"/>
          </p:nvPr>
        </p:nvSpPr>
        <p:spPr/>
        <p:txBody>
          <a:bodyPr/>
          <a:lstStyle/>
          <a:p>
            <a:fld id="{5E98A25C-7D8B-4DBC-AEAB-F974A92CFB92}" type="slidenum">
              <a:t>3</a:t>
            </a:fld>
            <a:endParaRPr lang="en-US"/>
          </a:p>
        </p:txBody>
      </p:sp>
    </p:spTree>
    <p:extLst>
      <p:ext uri="{BB962C8B-B14F-4D97-AF65-F5344CB8AC3E}">
        <p14:creationId xmlns:p14="http://schemas.microsoft.com/office/powerpoint/2010/main" val="2923351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database transaction is defined as a sequence of one or more SQL operations that are executed as a single, indivisible unit of work. The primary purpose of a transaction is to maintain data integrity and consistency within the database. When a transaction begins, the database treats all included operations as part of one logical task. If every operation completes successfully, the transaction is committed, and the changes are permanently saved. If any operation fails, the entire transaction is rolled back, meaning all changes made during the transaction are undone. This all-or-nothing behavior is crucial in systems where accuracy is critical. A classic example is transferring money between two bank accounts. This process involves at least two operations: deducting money from one account and adding it to another. These steps are logically connected and must be treated as one transaction. If the deduction succeeds but the addition fails, the system would be left in an incorrect state. Transactions prevent such situations by ensuring that both steps succeed together or fail together. Beyond banking, transactions are widely used in inventory management, order processing, and reservation systems. By grouping related operations, transactions simplify application logic and provide a robust way to handle errors and unexpected failures. They act as a safety net that protects the database from ending up in an inconsistent or unreliable state, even when multiple users and applications interact with it simultaneously.</a:t>
            </a:r>
          </a:p>
        </p:txBody>
      </p:sp>
      <p:sp>
        <p:nvSpPr>
          <p:cNvPr id="4" name="Slide Number Placeholder 3"/>
          <p:cNvSpPr>
            <a:spLocks noGrp="1"/>
          </p:cNvSpPr>
          <p:nvPr>
            <p:ph type="sldNum" sz="quarter" idx="5"/>
          </p:nvPr>
        </p:nvSpPr>
        <p:spPr/>
        <p:txBody>
          <a:bodyPr/>
          <a:lstStyle/>
          <a:p>
            <a:fld id="{5E98A25C-7D8B-4DBC-AEAB-F974A92CFB92}" type="slidenum">
              <a:t>4</a:t>
            </a:fld>
            <a:endParaRPr lang="en-US"/>
          </a:p>
        </p:txBody>
      </p:sp>
    </p:spTree>
    <p:extLst>
      <p:ext uri="{BB962C8B-B14F-4D97-AF65-F5344CB8AC3E}">
        <p14:creationId xmlns:p14="http://schemas.microsoft.com/office/powerpoint/2010/main" val="632215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During its lifecycle, a database transaction passes through several well-defined states that describe its current condition. The first state is Active, where the transaction is currently being executed and SQL statements are being processed. Once the final statement has been executed, the transaction enters the Partially Committed state. At this point, all required operations have been performed, but the changes have not yet been permanently saved to the database. If everything is successful, the transaction moves to the Committed state, where all changes are written to disk and become permanent. However, if an error occurs at any point—such as a system crash, constraint violation, or logical error—the transaction enters the Failed state. From there, it transitions to the Aborted state, where the database performs a rollback to undo any changes made during the transaction. Understanding these states helps database administrators and developers design systems that can recover gracefully from failures. A real-life analogy can be seen in online shopping. When a user adds items to a cart, the transaction is active. Clicking the payment button moves it toward partial commitment. A successful payment leads to commitment, while a payment failure causes the transaction to fail and abort, canceling the order. These states ensure that users do not end up with incomplete orders or incorrect charges.</a:t>
            </a:r>
          </a:p>
        </p:txBody>
      </p:sp>
      <p:sp>
        <p:nvSpPr>
          <p:cNvPr id="4" name="Slide Number Placeholder 3"/>
          <p:cNvSpPr>
            <a:spLocks noGrp="1"/>
          </p:cNvSpPr>
          <p:nvPr>
            <p:ph type="sldNum" sz="quarter" idx="5"/>
          </p:nvPr>
        </p:nvSpPr>
        <p:spPr/>
        <p:txBody>
          <a:bodyPr/>
          <a:lstStyle/>
          <a:p>
            <a:fld id="{5E98A25C-7D8B-4DBC-AEAB-F974A92CFB92}" type="slidenum">
              <a:t>5</a:t>
            </a:fld>
            <a:endParaRPr lang="en-US"/>
          </a:p>
        </p:txBody>
      </p:sp>
    </p:spTree>
    <p:extLst>
      <p:ext uri="{BB962C8B-B14F-4D97-AF65-F5344CB8AC3E}">
        <p14:creationId xmlns:p14="http://schemas.microsoft.com/office/powerpoint/2010/main" val="351029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ACID properties form the foundation of reliable transaction processing in relational database systems. The acronym ACID stands for Atomicity, Consistency, Isolation, and Durability. Together, these four principles ensure that database transactions are processed accurately and safely, even in the presence of errors, concurrent access, or system failures. Atomicity guarantees that a transaction is treated as a single unit, meaning it either completes fully or not at all. Consistency ensures that a transaction transforms the database from one valid state to another, always following defined rules and constraints. Isolation makes sure that concurrent transactions do not interfere with each other, preserving correctness in multi-user environments. Durability ensures that once a transaction is committed, its effects are permanent and will survive system crashes or power failures. These properties are especially important in mission-critical applications such as banking systems, airline reservations, and e-commerce platforms. A helpful real-life comparison is a bank’s internal rules for handling money. Every deposit or withdrawal follows strict procedures to ensure that funds are neither lost nor duplicated, customers are not affected by others’ transactions, and records remain accurate even after unexpected issues. ACID properties bring the same level of discipline and reliability to database systems.</a:t>
            </a:r>
          </a:p>
        </p:txBody>
      </p:sp>
      <p:sp>
        <p:nvSpPr>
          <p:cNvPr id="4" name="Slide Number Placeholder 3"/>
          <p:cNvSpPr>
            <a:spLocks noGrp="1"/>
          </p:cNvSpPr>
          <p:nvPr>
            <p:ph type="sldNum" sz="quarter" idx="5"/>
          </p:nvPr>
        </p:nvSpPr>
        <p:spPr/>
        <p:txBody>
          <a:bodyPr/>
          <a:lstStyle/>
          <a:p>
            <a:fld id="{5E98A25C-7D8B-4DBC-AEAB-F974A92CFB92}" type="slidenum">
              <a:t>6</a:t>
            </a:fld>
            <a:endParaRPr lang="en-US"/>
          </a:p>
        </p:txBody>
      </p:sp>
    </p:spTree>
    <p:extLst>
      <p:ext uri="{BB962C8B-B14F-4D97-AF65-F5344CB8AC3E}">
        <p14:creationId xmlns:p14="http://schemas.microsoft.com/office/powerpoint/2010/main" val="2822177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Atomicity and Consistency are two closely related ACID properties that focus on correctness and validity of transactions. Atomicity enforces the rule of “all or nothing,” meaning that a transaction must either complete all its operations successfully or have no effect at all. If any single operation within the transaction fails, the database automatically rolls back all changes made so far. This prevents partial updates that could corrupt data. Consistency, on the other hand, ensures that the database always adheres to defined rules, constraints, and business logic. These rules may include primary keys, foreign keys, data type constraints, or application-specific conditions such as non-negative account balances. A transaction that violates any of these rules is not allowed to commit. In real life, consider an ATM transaction. If money is deducted from an account but cash is not dispensed due to a machine error, atomicity ensures the entire transaction is canceled and the money is returned. Consistency ensures that rules like “an account balance cannot be negative” are never violated. Together, these properties protect the database from invalid states and ensure users can trust the system’s behavior at all times.</a:t>
            </a:r>
          </a:p>
        </p:txBody>
      </p:sp>
      <p:sp>
        <p:nvSpPr>
          <p:cNvPr id="4" name="Slide Number Placeholder 3"/>
          <p:cNvSpPr>
            <a:spLocks noGrp="1"/>
          </p:cNvSpPr>
          <p:nvPr>
            <p:ph type="sldNum" sz="quarter" idx="5"/>
          </p:nvPr>
        </p:nvSpPr>
        <p:spPr/>
        <p:txBody>
          <a:bodyPr/>
          <a:lstStyle/>
          <a:p>
            <a:fld id="{5E98A25C-7D8B-4DBC-AEAB-F974A92CFB92}" type="slidenum">
              <a:t>7</a:t>
            </a:fld>
            <a:endParaRPr lang="en-US"/>
          </a:p>
        </p:txBody>
      </p:sp>
    </p:spTree>
    <p:extLst>
      <p:ext uri="{BB962C8B-B14F-4D97-AF65-F5344CB8AC3E}">
        <p14:creationId xmlns:p14="http://schemas.microsoft.com/office/powerpoint/2010/main" val="991953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Isolation and Durability address challenges related to concurrency and long-term data reliability. Isolation ensures that multiple transactions executing at the same time do not interfere with each other. Each transaction behaves as if it is the only one accessing the database, even though many may be running concurrently. This prevents problems such as dirty reads, lost updates, and inconsistent data views. Databases achieve isolation using mechanisms like locks and isolation levels. Durability ensures that once a transaction is committed, its changes are permanently recorded and will not be lost, even in the event of a system crash or power failure. This is typically achieved through logging and persistent storage. A real-life example of isolation is two users trying to book the same seat in a theater at the same time; the system must ensure only one booking succeeds. Durability can be seen when a user receives a payment confirmation—once confirmed, the record remains safe even if the server crashes immediately afterward. Together, these properties ensure stable and dependable database behavior.</a:t>
            </a:r>
          </a:p>
        </p:txBody>
      </p:sp>
      <p:sp>
        <p:nvSpPr>
          <p:cNvPr id="4" name="Slide Number Placeholder 3"/>
          <p:cNvSpPr>
            <a:spLocks noGrp="1"/>
          </p:cNvSpPr>
          <p:nvPr>
            <p:ph type="sldNum" sz="quarter" idx="5"/>
          </p:nvPr>
        </p:nvSpPr>
        <p:spPr/>
        <p:txBody>
          <a:bodyPr/>
          <a:lstStyle/>
          <a:p>
            <a:fld id="{5E98A25C-7D8B-4DBC-AEAB-F974A92CFB92}" type="slidenum">
              <a:t>8</a:t>
            </a:fld>
            <a:endParaRPr lang="en-US"/>
          </a:p>
        </p:txBody>
      </p:sp>
    </p:spTree>
    <p:extLst>
      <p:ext uri="{BB962C8B-B14F-4D97-AF65-F5344CB8AC3E}">
        <p14:creationId xmlns:p14="http://schemas.microsoft.com/office/powerpoint/2010/main" val="2421404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Database transactions and ACID properties are essential building blocks for reliable and trustworthy software systems. Transactions ensure that related database operations are grouped into a single logical unit, preventing partial updates and maintaining correctness. ACID properties further strengthen this mechanism by enforcing rules that guarantee integrity, consistency, isolation, and durability of data. In real-world applications such as banking, e-commerce, and reservation systems, these concepts are not optional but mandatory. Without them, systems would frequently encounter errors like lost money, duplicate bookings, or corrupted records. By understanding how transactions work and how ACID properties protect data, developers and database administrators can design systems that scale safely and handle failures gracefully. Ultimately, ACID-compliant transactions provide users with confidence that their data is secure, accurate, and dependable, even in complex and high-traffic environments.</a:t>
            </a:r>
          </a:p>
        </p:txBody>
      </p:sp>
      <p:sp>
        <p:nvSpPr>
          <p:cNvPr id="4" name="Slide Number Placeholder 3"/>
          <p:cNvSpPr>
            <a:spLocks noGrp="1"/>
          </p:cNvSpPr>
          <p:nvPr>
            <p:ph type="sldNum" sz="quarter" idx="5"/>
          </p:nvPr>
        </p:nvSpPr>
        <p:spPr/>
        <p:txBody>
          <a:bodyPr/>
          <a:lstStyle/>
          <a:p>
            <a:fld id="{5E98A25C-7D8B-4DBC-AEAB-F974A92CFB92}" type="slidenum">
              <a:t>9</a:t>
            </a:fld>
            <a:endParaRPr lang="en-US"/>
          </a:p>
        </p:txBody>
      </p:sp>
    </p:spTree>
    <p:extLst>
      <p:ext uri="{BB962C8B-B14F-4D97-AF65-F5344CB8AC3E}">
        <p14:creationId xmlns:p14="http://schemas.microsoft.com/office/powerpoint/2010/main" val="15436246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5/1/2026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402172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51579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5/1/2026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867173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5/1/2026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63268444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5/1/2026</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95627962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5/1/2026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114692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5/1/2026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253239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5/1/2026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643155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5/1/2026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21420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5/1/2026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33130855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5/1/2026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057399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5/1/2026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42575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04615905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090145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883701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095025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998508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53404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740369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983574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372901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250884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811992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170518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4709649"/>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567231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5/1/2026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430590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838889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604138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16995527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54082068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2242204"/>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5/1/2026</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603707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5/1/2026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16264223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5/1/2026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5896222"/>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5/1/2026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863288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5/1/2026</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063496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5/1/2026</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0972873"/>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5/1/2026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4026129"/>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5/1/2026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478549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5/1/2026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557842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5/1/2026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803312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5/1/2026</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291362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5/1/2026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7838227"/>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5/1/2026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0500627"/>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5/1/2026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559278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5/1/2026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365031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5/1/2026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089678185"/>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5/1/2026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3336554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5/1/2026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969457843"/>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5/1/2026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923974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5/1/2026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999266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5/1/2026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18014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5/1/2026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a:p>
        </p:txBody>
      </p:sp>
    </p:spTree>
    <p:extLst>
      <p:ext uri="{BB962C8B-B14F-4D97-AF65-F5344CB8AC3E}">
        <p14:creationId xmlns:p14="http://schemas.microsoft.com/office/powerpoint/2010/main" val="29034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4FFC-C27D-4BA2-EE87-47CB985177DB}"/>
              </a:ext>
            </a:extLst>
          </p:cNvPr>
          <p:cNvSpPr>
            <a:spLocks noGrp="1"/>
          </p:cNvSpPr>
          <p:nvPr>
            <p:ph type="ctrTitle"/>
          </p:nvPr>
        </p:nvSpPr>
        <p:spPr>
          <a:xfrm>
            <a:off x="402336" y="765750"/>
            <a:ext cx="9635668" cy="3455113"/>
          </a:xfrm>
        </p:spPr>
        <p:txBody>
          <a:bodyPr anchor="t">
            <a:normAutofit/>
          </a:bodyPr>
          <a:lstStyle/>
          <a:p>
            <a:r>
              <a:rPr lang="en-US" sz="8100" dirty="0"/>
              <a:t> </a:t>
            </a:r>
            <a:r>
              <a:rPr lang="en-US" sz="8100"/>
              <a:t>Transactions and ACID Properties</a:t>
            </a:r>
          </a:p>
        </p:txBody>
      </p:sp>
      <p:sp>
        <p:nvSpPr>
          <p:cNvPr id="3" name="Subtitle 2">
            <a:extLst>
              <a:ext uri="{FF2B5EF4-FFF2-40B4-BE49-F238E27FC236}">
                <a16:creationId xmlns:a16="http://schemas.microsoft.com/office/drawing/2014/main" id="{EEB73281-3EAE-5D3A-1EC1-F5D4873341CD}"/>
              </a:ext>
            </a:extLst>
          </p:cNvPr>
          <p:cNvSpPr>
            <a:spLocks noGrp="1"/>
          </p:cNvSpPr>
          <p:nvPr>
            <p:ph type="subTitle" idx="1"/>
          </p:nvPr>
        </p:nvSpPr>
        <p:spPr>
          <a:xfrm>
            <a:off x="429428" y="5271844"/>
            <a:ext cx="9613065" cy="1001356"/>
          </a:xfrm>
        </p:spPr>
        <p:txBody>
          <a:bodyPr anchor="ctr">
            <a:normAutofit/>
          </a:bodyPr>
          <a:lstStyle/>
          <a:p>
            <a:r>
              <a:rPr lang="en-US"/>
              <a:t>Ensuring reliable and consistent data management</a:t>
            </a:r>
          </a:p>
        </p:txBody>
      </p:sp>
    </p:spTree>
    <p:extLst>
      <p:ext uri="{BB962C8B-B14F-4D97-AF65-F5344CB8AC3E}">
        <p14:creationId xmlns:p14="http://schemas.microsoft.com/office/powerpoint/2010/main" val="273704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308A-EB9C-AC4E-488C-F11EACC62EB5}"/>
              </a:ext>
            </a:extLst>
          </p:cNvPr>
          <p:cNvSpPr>
            <a:spLocks noGrp="1"/>
          </p:cNvSpPr>
          <p:nvPr>
            <p:ph type="title"/>
          </p:nvPr>
        </p:nvSpPr>
        <p:spPr>
          <a:xfrm>
            <a:off x="426997" y="3018408"/>
            <a:ext cx="8961120" cy="3247475"/>
          </a:xfrm>
        </p:spPr>
        <p:txBody>
          <a:bodyPr anchor="b">
            <a:normAutofit/>
          </a:bodyPr>
          <a:lstStyle/>
          <a:p>
            <a:r>
              <a:rPr lang="en-US" dirty="0"/>
              <a:t> </a:t>
            </a:r>
            <a:r>
              <a:rPr lang="en-US"/>
              <a:t>Transactions and ACID Properties</a:t>
            </a:r>
          </a:p>
        </p:txBody>
      </p:sp>
    </p:spTree>
    <p:extLst>
      <p:ext uri="{BB962C8B-B14F-4D97-AF65-F5344CB8AC3E}">
        <p14:creationId xmlns:p14="http://schemas.microsoft.com/office/powerpoint/2010/main" val="1336759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AF88-65A3-33E2-5F39-2E1C151A4619}"/>
              </a:ext>
            </a:extLst>
          </p:cNvPr>
          <p:cNvSpPr>
            <a:spLocks noGrp="1"/>
          </p:cNvSpPr>
          <p:nvPr>
            <p:ph type="title"/>
          </p:nvPr>
        </p:nvSpPr>
        <p:spPr>
          <a:xfrm>
            <a:off x="7007497" y="691868"/>
            <a:ext cx="4660247" cy="1439210"/>
          </a:xfrm>
        </p:spPr>
        <p:txBody>
          <a:bodyPr anchor="t">
            <a:normAutofit/>
          </a:bodyPr>
          <a:lstStyle/>
          <a:p>
            <a:r>
              <a:rPr lang="en-US"/>
              <a:t>Introduction to  Transactions</a:t>
            </a:r>
          </a:p>
        </p:txBody>
      </p:sp>
      <p:pic>
        <p:nvPicPr>
          <p:cNvPr id="5" name="Content Placeholder 4" descr="abstract programm binary code  and colored array cube Database">
            <a:extLst>
              <a:ext uri="{FF2B5EF4-FFF2-40B4-BE49-F238E27FC236}">
                <a16:creationId xmlns:a16="http://schemas.microsoft.com/office/drawing/2014/main" id="{21614290-03AC-4214-8AAF-63CAB95B2710}"/>
              </a:ext>
            </a:extLst>
          </p:cNvPr>
          <p:cNvPicPr>
            <a:picLocks noGrp="1" noChangeAspect="1"/>
          </p:cNvPicPr>
          <p:nvPr>
            <p:ph type="pic" sz="quarter" idx="13"/>
          </p:nvPr>
        </p:nvPicPr>
        <p:blipFill>
          <a:blip r:embed="rId3"/>
          <a:srcRect l="36493" r="-2" b="-2"/>
          <a:stretch>
            <a:fillRect/>
          </a:stretch>
        </p:blipFill>
        <p:spPr>
          <a:xfrm>
            <a:off x="533400" y="533399"/>
            <a:ext cx="6029286" cy="5791201"/>
          </a:xfrm>
        </p:spPr>
      </p:pic>
      <p:sp>
        <p:nvSpPr>
          <p:cNvPr id="4" name="Content Placeholder 3">
            <a:extLst>
              <a:ext uri="{FF2B5EF4-FFF2-40B4-BE49-F238E27FC236}">
                <a16:creationId xmlns:a16="http://schemas.microsoft.com/office/drawing/2014/main" id="{1939A8DA-5B4F-BEBC-20E7-D68084253C2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497" y="2211184"/>
            <a:ext cx="4660247" cy="4113415"/>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a:t>Role of Transactions</a:t>
            </a:r>
          </a:p>
          <a:p>
            <a:pPr marL="0" lvl="1" indent="0">
              <a:buFont typeface="Arial" panose="020B0604020202020204" pitchFamily="34" charset="0"/>
              <a:buNone/>
            </a:pPr>
            <a:r>
              <a:rPr lang="en-US" dirty="0"/>
              <a:t>Transactions group SQL operations to ensure all succeed or fail as a single unit, maintaining data integrity.</a:t>
            </a:r>
          </a:p>
          <a:p>
            <a:pPr marL="0" indent="0">
              <a:spcBef>
                <a:spcPts val="2500"/>
              </a:spcBef>
              <a:buFont typeface="Arial" panose="020B0604020202020204" pitchFamily="34" charset="0"/>
              <a:buNone/>
            </a:pPr>
            <a:r>
              <a:rPr lang="en-US" b="1"/>
              <a:t>ACID Properties Overview</a:t>
            </a:r>
          </a:p>
          <a:p>
            <a:pPr marL="0" lvl="1" indent="0">
              <a:buFont typeface="Arial" panose="020B0604020202020204" pitchFamily="34" charset="0"/>
              <a:buNone/>
            </a:pPr>
            <a:r>
              <a:rPr lang="en-US"/>
              <a:t>ACID properties guarantee safe, predictable transaction behavior in multi-user database environments.</a:t>
            </a:r>
          </a:p>
          <a:p>
            <a:pPr marL="0" indent="0">
              <a:spcBef>
                <a:spcPts val="2500"/>
              </a:spcBef>
              <a:buFont typeface="Arial" panose="020B0604020202020204" pitchFamily="34" charset="0"/>
              <a:buNone/>
            </a:pPr>
            <a:r>
              <a:rPr lang="en-US" b="1"/>
              <a:t>Real-World Application</a:t>
            </a:r>
          </a:p>
          <a:p>
            <a:pPr marL="0" lvl="1" indent="0">
              <a:buNone/>
            </a:pPr>
            <a:r>
              <a:rPr lang="en-US" dirty="0">
                <a:solidFill>
                  <a:srgbClr val="0F0F0F"/>
                </a:solidFill>
                <a:latin typeface="Arial Nova Light"/>
                <a:ea typeface="Calibri"/>
                <a:cs typeface="Calibri"/>
              </a:rPr>
              <a:t>w</a:t>
            </a:r>
            <a:r>
              <a:rPr lang="en-US" sz="1200">
                <a:solidFill>
                  <a:srgbClr val="000000"/>
                </a:solidFill>
                <a:highlight>
                  <a:srgbClr val="FFFFFF"/>
                </a:highlight>
                <a:latin typeface="Arial Nova Light"/>
                <a:ea typeface="Calibri"/>
                <a:cs typeface="Calibri"/>
              </a:rPr>
              <a:t>hen we book a movie ticket online, our </a:t>
            </a:r>
            <a:r>
              <a:rPr lang="en-US" sz="1200" dirty="0">
                <a:solidFill>
                  <a:srgbClr val="000000"/>
                </a:solidFill>
                <a:highlight>
                  <a:srgbClr val="FFFFFF"/>
                </a:highlight>
                <a:latin typeface="Arial Nova Light"/>
                <a:ea typeface="Calibri"/>
                <a:cs typeface="Calibri"/>
              </a:rPr>
              <a:t>seat is reserved and payment is processed together. If payment fails, the seat should not be booked.</a:t>
            </a:r>
          </a:p>
        </p:txBody>
      </p:sp>
    </p:spTree>
    <p:extLst>
      <p:ext uri="{BB962C8B-B14F-4D97-AF65-F5344CB8AC3E}">
        <p14:creationId xmlns:p14="http://schemas.microsoft.com/office/powerpoint/2010/main" val="2755997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6C0E3-801D-BFDA-51BE-2C263044D63B}"/>
              </a:ext>
            </a:extLst>
          </p:cNvPr>
          <p:cNvSpPr>
            <a:spLocks noGrp="1"/>
          </p:cNvSpPr>
          <p:nvPr>
            <p:ph type="title"/>
          </p:nvPr>
        </p:nvSpPr>
        <p:spPr>
          <a:xfrm>
            <a:off x="4977971" y="691866"/>
            <a:ext cx="6680630" cy="1217337"/>
          </a:xfrm>
        </p:spPr>
        <p:txBody>
          <a:bodyPr anchor="t">
            <a:normAutofit/>
          </a:bodyPr>
          <a:lstStyle/>
          <a:p>
            <a:r>
              <a:rPr lang="en-US"/>
              <a:t>What is a Database Transaction?</a:t>
            </a:r>
          </a:p>
        </p:txBody>
      </p:sp>
      <p:pic>
        <p:nvPicPr>
          <p:cNvPr id="5" name="Content Placeholder 4" descr="A row of colourful pins">
            <a:extLst>
              <a:ext uri="{FF2B5EF4-FFF2-40B4-BE49-F238E27FC236}">
                <a16:creationId xmlns:a16="http://schemas.microsoft.com/office/drawing/2014/main" id="{06DB41A3-1722-4A20-9AA9-B3551F31CE40}"/>
              </a:ext>
            </a:extLst>
          </p:cNvPr>
          <p:cNvPicPr>
            <a:picLocks noGrp="1" noChangeAspect="1"/>
          </p:cNvPicPr>
          <p:nvPr>
            <p:ph type="pic" sz="quarter" idx="13"/>
          </p:nvPr>
        </p:nvPicPr>
        <p:blipFill>
          <a:blip r:embed="rId3"/>
          <a:srcRect l="43703" r="42923"/>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C61C646C-A65F-4BA4-50A5-4C48E7B3AC0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b="1"/>
              <a:t>Definition and Purpose</a:t>
            </a:r>
          </a:p>
          <a:p>
            <a:pPr marL="0" lvl="1" indent="0">
              <a:lnSpc>
                <a:spcPct val="110000"/>
              </a:lnSpc>
              <a:buFont typeface="Arial" panose="020B0604020202020204" pitchFamily="34" charset="0"/>
              <a:buNone/>
            </a:pPr>
            <a:r>
              <a:rPr lang="en-US"/>
              <a:t>A transaction is a sequence of SQL operations executed as one indivisible unit to maintain data integrity.</a:t>
            </a:r>
          </a:p>
          <a:p>
            <a:pPr marL="0" indent="0">
              <a:lnSpc>
                <a:spcPct val="110000"/>
              </a:lnSpc>
              <a:spcBef>
                <a:spcPts val="2500"/>
              </a:spcBef>
              <a:buFont typeface="Arial" panose="020B0604020202020204" pitchFamily="34" charset="0"/>
              <a:buNone/>
            </a:pPr>
            <a:r>
              <a:rPr lang="en-US" b="1"/>
              <a:t>Commit and Rollback</a:t>
            </a:r>
          </a:p>
          <a:p>
            <a:pPr marL="0" lvl="1" indent="0">
              <a:lnSpc>
                <a:spcPct val="110000"/>
              </a:lnSpc>
              <a:buFont typeface="Arial" panose="020B0604020202020204" pitchFamily="34" charset="0"/>
              <a:buNone/>
            </a:pPr>
            <a:r>
              <a:rPr lang="en-US"/>
              <a:t>Success leads to commit saving changes, failure triggers rollback undoing all changes in the transaction.</a:t>
            </a:r>
          </a:p>
          <a:p>
            <a:pPr marL="0" indent="0">
              <a:lnSpc>
                <a:spcPct val="110000"/>
              </a:lnSpc>
              <a:spcBef>
                <a:spcPts val="2500"/>
              </a:spcBef>
              <a:buFont typeface="Arial" panose="020B0604020202020204" pitchFamily="34" charset="0"/>
              <a:buNone/>
            </a:pPr>
            <a:r>
              <a:rPr lang="en-US" b="1"/>
              <a:t>Practical Example</a:t>
            </a:r>
          </a:p>
          <a:p>
            <a:pPr marL="0" lvl="1" indent="0">
              <a:lnSpc>
                <a:spcPct val="110000"/>
              </a:lnSpc>
              <a:buFont typeface="Arial" panose="020B0604020202020204" pitchFamily="34" charset="0"/>
              <a:buNone/>
            </a:pPr>
            <a:r>
              <a:rPr lang="en-US"/>
              <a:t>Bank transfers require both deduction and addition steps to succeed or fail together to avoid errors.</a:t>
            </a:r>
          </a:p>
          <a:p>
            <a:pPr marL="0" indent="0">
              <a:lnSpc>
                <a:spcPct val="110000"/>
              </a:lnSpc>
              <a:spcBef>
                <a:spcPts val="2500"/>
              </a:spcBef>
              <a:buFont typeface="Arial" panose="020B0604020202020204" pitchFamily="34" charset="0"/>
              <a:buNone/>
            </a:pPr>
            <a:r>
              <a:rPr lang="en-US" b="1"/>
              <a:t>Broader Applications</a:t>
            </a:r>
          </a:p>
          <a:p>
            <a:pPr marL="0" lvl="1" indent="0">
              <a:lnSpc>
                <a:spcPct val="110000"/>
              </a:lnSpc>
              <a:buFont typeface="Arial" panose="020B0604020202020204" pitchFamily="34" charset="0"/>
              <a:buNone/>
            </a:pPr>
            <a:r>
              <a:rPr lang="en-US"/>
              <a:t>Transactions are essential in inventory, order processing, and reservation systems for data consistency.</a:t>
            </a:r>
          </a:p>
        </p:txBody>
      </p:sp>
    </p:spTree>
    <p:extLst>
      <p:ext uri="{BB962C8B-B14F-4D97-AF65-F5344CB8AC3E}">
        <p14:creationId xmlns:p14="http://schemas.microsoft.com/office/powerpoint/2010/main" val="1802112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B813C-0948-B5E7-8DDF-5D84A0BA3395}"/>
              </a:ext>
            </a:extLst>
          </p:cNvPr>
          <p:cNvSpPr>
            <a:spLocks noGrp="1"/>
          </p:cNvSpPr>
          <p:nvPr>
            <p:ph type="title"/>
          </p:nvPr>
        </p:nvSpPr>
        <p:spPr>
          <a:xfrm>
            <a:off x="4977971" y="691866"/>
            <a:ext cx="6680630" cy="1217337"/>
          </a:xfrm>
        </p:spPr>
        <p:txBody>
          <a:bodyPr anchor="t">
            <a:normAutofit/>
          </a:bodyPr>
          <a:lstStyle/>
          <a:p>
            <a:r>
              <a:rPr lang="en-US"/>
              <a:t>Transaction States</a:t>
            </a:r>
          </a:p>
        </p:txBody>
      </p:sp>
      <p:pic>
        <p:nvPicPr>
          <p:cNvPr id="5" name="Content Placeholder 4" descr="Folder transfer">
            <a:extLst>
              <a:ext uri="{FF2B5EF4-FFF2-40B4-BE49-F238E27FC236}">
                <a16:creationId xmlns:a16="http://schemas.microsoft.com/office/drawing/2014/main" id="{1A6CCDB3-D07D-4A4B-AF63-AAB072C90AC7}"/>
              </a:ext>
            </a:extLst>
          </p:cNvPr>
          <p:cNvPicPr>
            <a:picLocks noGrp="1" noChangeAspect="1"/>
          </p:cNvPicPr>
          <p:nvPr>
            <p:ph type="pic" sz="quarter" idx="13"/>
          </p:nvPr>
        </p:nvPicPr>
        <p:blipFill>
          <a:blip r:embed="rId3"/>
          <a:srcRect l="20722" r="29128"/>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7B754288-B11E-E4D2-027A-7469C20CB21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spcBef>
                <a:spcPts val="2500"/>
              </a:spcBef>
              <a:buFont typeface="Arial" panose="020B0604020202020204" pitchFamily="34" charset="0"/>
              <a:buNone/>
            </a:pPr>
            <a:r>
              <a:rPr lang="en-US" b="1"/>
              <a:t>Active State</a:t>
            </a:r>
          </a:p>
          <a:p>
            <a:pPr marL="0" lvl="1" indent="0">
              <a:buFont typeface="Arial" panose="020B0604020202020204" pitchFamily="34" charset="0"/>
              <a:buNone/>
            </a:pPr>
            <a:r>
              <a:rPr lang="en-US"/>
              <a:t>The transaction is currently executing and processing SQL statements during the active state.</a:t>
            </a:r>
          </a:p>
          <a:p>
            <a:pPr marL="0" indent="0">
              <a:spcBef>
                <a:spcPts val="2500"/>
              </a:spcBef>
              <a:buFont typeface="Arial" panose="020B0604020202020204" pitchFamily="34" charset="0"/>
              <a:buNone/>
            </a:pPr>
            <a:r>
              <a:rPr lang="en-US" b="1"/>
              <a:t>Partially Committed State</a:t>
            </a:r>
          </a:p>
          <a:p>
            <a:pPr marL="0" lvl="1" indent="0">
              <a:buFont typeface="Arial" panose="020B0604020202020204" pitchFamily="34" charset="0"/>
              <a:buNone/>
            </a:pPr>
            <a:r>
              <a:rPr lang="en-US"/>
              <a:t>All operations are performed but changes are not yet permanently saved in the partially committed state.</a:t>
            </a:r>
          </a:p>
          <a:p>
            <a:pPr marL="0" indent="0">
              <a:spcBef>
                <a:spcPts val="2500"/>
              </a:spcBef>
              <a:buFont typeface="Arial" panose="020B0604020202020204" pitchFamily="34" charset="0"/>
              <a:buNone/>
            </a:pPr>
            <a:r>
              <a:rPr lang="en-US" b="1"/>
              <a:t>Committed State</a:t>
            </a:r>
          </a:p>
          <a:p>
            <a:pPr marL="0" lvl="1" indent="0">
              <a:buFont typeface="Arial" panose="020B0604020202020204" pitchFamily="34" charset="0"/>
              <a:buNone/>
            </a:pPr>
            <a:r>
              <a:rPr lang="en-US"/>
              <a:t>Changes are permanently written to disk and confirmed in the committed state.</a:t>
            </a:r>
          </a:p>
          <a:p>
            <a:pPr marL="0" indent="0">
              <a:spcBef>
                <a:spcPts val="2500"/>
              </a:spcBef>
              <a:buFont typeface="Arial" panose="020B0604020202020204" pitchFamily="34" charset="0"/>
              <a:buNone/>
            </a:pPr>
            <a:r>
              <a:rPr lang="en-US" b="1"/>
              <a:t>Failed and Aborted States</a:t>
            </a:r>
          </a:p>
          <a:p>
            <a:pPr marL="0" lvl="1" indent="0">
              <a:buFont typeface="Arial" panose="020B0604020202020204" pitchFamily="34" charset="0"/>
              <a:buNone/>
            </a:pPr>
            <a:r>
              <a:rPr lang="en-US"/>
              <a:t>Transaction fails due to errors and rolls back changes during the aborted state.</a:t>
            </a:r>
          </a:p>
        </p:txBody>
      </p:sp>
    </p:spTree>
    <p:extLst>
      <p:ext uri="{BB962C8B-B14F-4D97-AF65-F5344CB8AC3E}">
        <p14:creationId xmlns:p14="http://schemas.microsoft.com/office/powerpoint/2010/main" val="3422593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8D2B-48DB-A10A-F1F3-95B154C5CD7B}"/>
              </a:ext>
            </a:extLst>
          </p:cNvPr>
          <p:cNvSpPr>
            <a:spLocks noGrp="1"/>
          </p:cNvSpPr>
          <p:nvPr>
            <p:ph type="title"/>
          </p:nvPr>
        </p:nvSpPr>
        <p:spPr>
          <a:xfrm>
            <a:off x="4848555" y="512011"/>
            <a:ext cx="6792069" cy="1259920"/>
          </a:xfrm>
        </p:spPr>
        <p:txBody>
          <a:bodyPr anchor="b">
            <a:normAutofit/>
          </a:bodyPr>
          <a:lstStyle/>
          <a:p>
            <a:r>
              <a:rPr lang="en-US"/>
              <a:t>ACID Properties Overview</a:t>
            </a:r>
          </a:p>
        </p:txBody>
      </p:sp>
      <p:pic>
        <p:nvPicPr>
          <p:cNvPr id="5" name="Content Placeholder 4" descr="Cryptocurrency Bitcoin, Blockchain, Blueprint">
            <a:extLst>
              <a:ext uri="{FF2B5EF4-FFF2-40B4-BE49-F238E27FC236}">
                <a16:creationId xmlns:a16="http://schemas.microsoft.com/office/drawing/2014/main" id="{0A5C6827-1D86-4A93-8068-E82A6B543FC4}"/>
              </a:ext>
            </a:extLst>
          </p:cNvPr>
          <p:cNvPicPr>
            <a:picLocks noGrp="1" noChangeAspect="1"/>
          </p:cNvPicPr>
          <p:nvPr>
            <p:ph type="pic" sz="quarter" idx="13"/>
          </p:nvPr>
        </p:nvPicPr>
        <p:blipFill>
          <a:blip r:embed="rId3"/>
          <a:srcRect l="30536" r="31718"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C4607DF3-CB50-0437-FC46-CF1529FB0EB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Atomicity</a:t>
            </a:r>
          </a:p>
          <a:p>
            <a:pPr marL="0" lvl="1" indent="0">
              <a:lnSpc>
                <a:spcPct val="110000"/>
              </a:lnSpc>
              <a:buFont typeface="Arial" panose="020B0604020202020204" pitchFamily="34" charset="0"/>
              <a:buNone/>
            </a:pPr>
            <a:r>
              <a:rPr lang="en-US"/>
              <a:t>Atomicity ensures that each transaction is treated as a single indivisible unit, completing fully or not at all.</a:t>
            </a:r>
          </a:p>
          <a:p>
            <a:pPr marL="0" indent="0">
              <a:lnSpc>
                <a:spcPct val="110000"/>
              </a:lnSpc>
              <a:spcBef>
                <a:spcPts val="2500"/>
              </a:spcBef>
              <a:buFont typeface="Arial" panose="020B0604020202020204" pitchFamily="34" charset="0"/>
              <a:buNone/>
            </a:pPr>
            <a:r>
              <a:rPr lang="en-US" b="1"/>
              <a:t>Consistency</a:t>
            </a:r>
          </a:p>
          <a:p>
            <a:pPr marL="0" lvl="1" indent="0">
              <a:lnSpc>
                <a:spcPct val="110000"/>
              </a:lnSpc>
              <a:buFont typeface="Arial" panose="020B0604020202020204" pitchFamily="34" charset="0"/>
              <a:buNone/>
            </a:pPr>
            <a:r>
              <a:rPr lang="en-US"/>
              <a:t>Consistency maintains database integrity by enforcing rules and constraints during each transaction's execution.</a:t>
            </a:r>
          </a:p>
          <a:p>
            <a:pPr marL="0" indent="0">
              <a:lnSpc>
                <a:spcPct val="110000"/>
              </a:lnSpc>
              <a:spcBef>
                <a:spcPts val="2500"/>
              </a:spcBef>
              <a:buFont typeface="Arial" panose="020B0604020202020204" pitchFamily="34" charset="0"/>
              <a:buNone/>
            </a:pPr>
            <a:r>
              <a:rPr lang="en-US" b="1"/>
              <a:t>Isolation</a:t>
            </a:r>
          </a:p>
          <a:p>
            <a:pPr marL="0" lvl="1" indent="0">
              <a:lnSpc>
                <a:spcPct val="110000"/>
              </a:lnSpc>
              <a:buFont typeface="Arial" panose="020B0604020202020204" pitchFamily="34" charset="0"/>
              <a:buNone/>
            </a:pPr>
            <a:r>
              <a:rPr lang="en-US"/>
              <a:t>Isolation prevents concurrent transactions from interfering, ensuring accuracy in multi-user database environments.</a:t>
            </a:r>
          </a:p>
          <a:p>
            <a:pPr marL="0" indent="0">
              <a:lnSpc>
                <a:spcPct val="110000"/>
              </a:lnSpc>
              <a:spcBef>
                <a:spcPts val="2500"/>
              </a:spcBef>
              <a:buFont typeface="Arial" panose="020B0604020202020204" pitchFamily="34" charset="0"/>
              <a:buNone/>
            </a:pPr>
            <a:r>
              <a:rPr lang="en-US" b="1"/>
              <a:t>Durability</a:t>
            </a:r>
          </a:p>
          <a:p>
            <a:pPr marL="0" lvl="1" indent="0">
              <a:lnSpc>
                <a:spcPct val="110000"/>
              </a:lnSpc>
              <a:buFont typeface="Arial" panose="020B0604020202020204" pitchFamily="34" charset="0"/>
              <a:buNone/>
            </a:pPr>
            <a:r>
              <a:rPr lang="en-US"/>
              <a:t>Durability guarantees that committed transactions persist permanently, even after system failures or crashes.</a:t>
            </a:r>
          </a:p>
        </p:txBody>
      </p:sp>
    </p:spTree>
    <p:extLst>
      <p:ext uri="{BB962C8B-B14F-4D97-AF65-F5344CB8AC3E}">
        <p14:creationId xmlns:p14="http://schemas.microsoft.com/office/powerpoint/2010/main" val="914343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E5EA3-DB3A-70B8-1E08-29D1B0FCFE0C}"/>
              </a:ext>
            </a:extLst>
          </p:cNvPr>
          <p:cNvSpPr>
            <a:spLocks noGrp="1"/>
          </p:cNvSpPr>
          <p:nvPr>
            <p:ph type="title"/>
          </p:nvPr>
        </p:nvSpPr>
        <p:spPr>
          <a:xfrm>
            <a:off x="5993867" y="691867"/>
            <a:ext cx="5664732" cy="1212661"/>
          </a:xfrm>
        </p:spPr>
        <p:txBody>
          <a:bodyPr anchor="t">
            <a:normAutofit/>
          </a:bodyPr>
          <a:lstStyle/>
          <a:p>
            <a:r>
              <a:rPr lang="en-US"/>
              <a:t>Atomicity and Consistency</a:t>
            </a:r>
          </a:p>
        </p:txBody>
      </p:sp>
      <p:pic>
        <p:nvPicPr>
          <p:cNvPr id="5" name="Content Placeholder 4" descr="Database symbols with arrows and file folder">
            <a:extLst>
              <a:ext uri="{FF2B5EF4-FFF2-40B4-BE49-F238E27FC236}">
                <a16:creationId xmlns:a16="http://schemas.microsoft.com/office/drawing/2014/main" id="{527BC3B3-992F-44BB-B8F9-C00E762056F7}"/>
              </a:ext>
            </a:extLst>
          </p:cNvPr>
          <p:cNvPicPr>
            <a:picLocks noGrp="1" noChangeAspect="1"/>
          </p:cNvPicPr>
          <p:nvPr>
            <p:ph type="pic" sz="quarter" idx="13"/>
          </p:nvPr>
        </p:nvPicPr>
        <p:blipFill>
          <a:blip r:embed="rId3"/>
          <a:srcRect l="20877" r="7750"/>
          <a:stretch>
            <a:fillRect/>
          </a:stretch>
        </p:blipFill>
        <p:spPr>
          <a:xfrm>
            <a:off x="533401" y="533400"/>
            <a:ext cx="4953000" cy="5811928"/>
          </a:xfrm>
        </p:spPr>
      </p:pic>
      <p:sp>
        <p:nvSpPr>
          <p:cNvPr id="4" name="Content Placeholder 3">
            <a:extLst>
              <a:ext uri="{FF2B5EF4-FFF2-40B4-BE49-F238E27FC236}">
                <a16:creationId xmlns:a16="http://schemas.microsoft.com/office/drawing/2014/main" id="{B5C63CE4-1C38-7196-DB38-E8A4887FEAD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865" y="2007652"/>
            <a:ext cx="5664732" cy="4315319"/>
          </a:xfrm>
        </p:spPr>
        <p:txBody>
          <a:bodyPr>
            <a:normAutofit/>
          </a:bodyPr>
          <a:lstStyle/>
          <a:p>
            <a:pPr marL="0" indent="0">
              <a:spcBef>
                <a:spcPts val="2500"/>
              </a:spcBef>
              <a:buFont typeface="Arial" panose="020B0604020202020204" pitchFamily="34" charset="0"/>
              <a:buNone/>
            </a:pPr>
            <a:r>
              <a:rPr lang="en-US" b="1"/>
              <a:t>Atomicity Principle</a:t>
            </a:r>
          </a:p>
          <a:p>
            <a:pPr marL="0" lvl="1" indent="0">
              <a:buFont typeface="Arial" panose="020B0604020202020204" pitchFamily="34" charset="0"/>
              <a:buNone/>
            </a:pPr>
            <a:r>
              <a:rPr lang="en-US"/>
              <a:t>Atomicity guarantees that transactions are fully completed or fully rolled back to prevent partial data changes.</a:t>
            </a:r>
          </a:p>
          <a:p>
            <a:pPr marL="0" indent="0">
              <a:spcBef>
                <a:spcPts val="2500"/>
              </a:spcBef>
              <a:buFont typeface="Arial" panose="020B0604020202020204" pitchFamily="34" charset="0"/>
              <a:buNone/>
            </a:pPr>
            <a:r>
              <a:rPr lang="en-US" b="1"/>
              <a:t>Consistency Enforcement</a:t>
            </a:r>
          </a:p>
          <a:p>
            <a:pPr marL="0" lvl="1" indent="0">
              <a:buFont typeface="Arial" panose="020B0604020202020204" pitchFamily="34" charset="0"/>
              <a:buNone/>
            </a:pPr>
            <a:r>
              <a:rPr lang="en-US"/>
              <a:t>Consistency ensures that all database rules and constraints are obeyed, keeping data valid after transactions.</a:t>
            </a:r>
          </a:p>
          <a:p>
            <a:pPr marL="0" indent="0">
              <a:spcBef>
                <a:spcPts val="2500"/>
              </a:spcBef>
              <a:buFont typeface="Arial" panose="020B0604020202020204" pitchFamily="34" charset="0"/>
              <a:buNone/>
            </a:pPr>
            <a:r>
              <a:rPr lang="en-US" b="1"/>
              <a:t>Real-Life Example</a:t>
            </a:r>
          </a:p>
          <a:p>
            <a:pPr marL="0" lvl="1" indent="0">
              <a:buFont typeface="Arial" panose="020B0604020202020204" pitchFamily="34" charset="0"/>
              <a:buNone/>
            </a:pPr>
            <a:r>
              <a:rPr lang="en-US"/>
              <a:t>ATM transactions demonstrate atomicity and consistency by canceling incomplete withdrawals and maintaining valid balances.</a:t>
            </a:r>
          </a:p>
        </p:txBody>
      </p:sp>
    </p:spTree>
    <p:extLst>
      <p:ext uri="{BB962C8B-B14F-4D97-AF65-F5344CB8AC3E}">
        <p14:creationId xmlns:p14="http://schemas.microsoft.com/office/powerpoint/2010/main" val="1468532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E7C5D-E8B8-6736-28FA-A4062A866D94}"/>
              </a:ext>
            </a:extLst>
          </p:cNvPr>
          <p:cNvSpPr>
            <a:spLocks noGrp="1"/>
          </p:cNvSpPr>
          <p:nvPr>
            <p:ph type="title"/>
          </p:nvPr>
        </p:nvSpPr>
        <p:spPr>
          <a:xfrm>
            <a:off x="7007497" y="691868"/>
            <a:ext cx="4660247" cy="1439210"/>
          </a:xfrm>
        </p:spPr>
        <p:txBody>
          <a:bodyPr anchor="t">
            <a:normAutofit/>
          </a:bodyPr>
          <a:lstStyle/>
          <a:p>
            <a:r>
              <a:rPr lang="en-US"/>
              <a:t>Isolation and Durability</a:t>
            </a:r>
          </a:p>
        </p:txBody>
      </p:sp>
      <p:pic>
        <p:nvPicPr>
          <p:cNvPr id="5" name="Content Placeholder 4" descr="Digital padlock art">
            <a:extLst>
              <a:ext uri="{FF2B5EF4-FFF2-40B4-BE49-F238E27FC236}">
                <a16:creationId xmlns:a16="http://schemas.microsoft.com/office/drawing/2014/main" id="{C00A33D4-A796-40B6-8715-6DFD0DF90E6E}"/>
              </a:ext>
            </a:extLst>
          </p:cNvPr>
          <p:cNvPicPr>
            <a:picLocks noGrp="1" noChangeAspect="1"/>
          </p:cNvPicPr>
          <p:nvPr>
            <p:ph type="pic" sz="quarter" idx="13"/>
          </p:nvPr>
        </p:nvPicPr>
        <p:blipFill>
          <a:blip r:embed="rId3"/>
          <a:srcRect r="23478"/>
          <a:stretch>
            <a:fillRect/>
          </a:stretch>
        </p:blipFill>
        <p:spPr>
          <a:xfrm>
            <a:off x="533400" y="533399"/>
            <a:ext cx="6029286" cy="5791201"/>
          </a:xfrm>
        </p:spPr>
      </p:pic>
      <p:sp>
        <p:nvSpPr>
          <p:cNvPr id="4" name="Content Placeholder 3">
            <a:extLst>
              <a:ext uri="{FF2B5EF4-FFF2-40B4-BE49-F238E27FC236}">
                <a16:creationId xmlns:a16="http://schemas.microsoft.com/office/drawing/2014/main" id="{29C8D398-3F34-6F8A-80D7-0BB3706F8BB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497" y="2211184"/>
            <a:ext cx="4660247" cy="4113415"/>
          </a:xfrm>
        </p:spPr>
        <p:txBody>
          <a:bodyPr>
            <a:normAutofit/>
          </a:bodyPr>
          <a:lstStyle/>
          <a:p>
            <a:pPr marL="0" indent="0">
              <a:spcBef>
                <a:spcPts val="2500"/>
              </a:spcBef>
              <a:buFont typeface="Arial" panose="020B0604020202020204" pitchFamily="34" charset="0"/>
              <a:buNone/>
            </a:pPr>
            <a:r>
              <a:rPr lang="en-US" b="1"/>
              <a:t>Transaction Isolation</a:t>
            </a:r>
          </a:p>
          <a:p>
            <a:pPr marL="0" lvl="1" indent="0">
              <a:buFont typeface="Arial" panose="020B0604020202020204" pitchFamily="34" charset="0"/>
              <a:buNone/>
            </a:pPr>
            <a:r>
              <a:rPr lang="en-US"/>
              <a:t>Isolation prevents interference between concurrent transactions, ensuring data consistency and accuracy.</a:t>
            </a:r>
          </a:p>
          <a:p>
            <a:pPr marL="0" indent="0">
              <a:spcBef>
                <a:spcPts val="2500"/>
              </a:spcBef>
              <a:buFont typeface="Arial" panose="020B0604020202020204" pitchFamily="34" charset="0"/>
              <a:buNone/>
            </a:pPr>
            <a:r>
              <a:rPr lang="en-US" b="1"/>
              <a:t>Ensuring Durability</a:t>
            </a:r>
          </a:p>
          <a:p>
            <a:pPr marL="0" lvl="1" indent="0">
              <a:buFont typeface="Arial" panose="020B0604020202020204" pitchFamily="34" charset="0"/>
              <a:buNone/>
            </a:pPr>
            <a:r>
              <a:rPr lang="en-US"/>
              <a:t>Durability guarantees that committed transaction changes persist despite system crashes or power failures.</a:t>
            </a:r>
          </a:p>
          <a:p>
            <a:pPr marL="0" indent="0">
              <a:spcBef>
                <a:spcPts val="2500"/>
              </a:spcBef>
              <a:buFont typeface="Arial" panose="020B0604020202020204" pitchFamily="34" charset="0"/>
              <a:buNone/>
            </a:pPr>
            <a:r>
              <a:rPr lang="en-US" b="1"/>
              <a:t>Real-Life Application Examples</a:t>
            </a:r>
          </a:p>
          <a:p>
            <a:pPr marL="0" lvl="1" indent="0">
              <a:buFont typeface="Arial" panose="020B0604020202020204" pitchFamily="34" charset="0"/>
              <a:buNone/>
            </a:pPr>
            <a:r>
              <a:rPr lang="en-US"/>
              <a:t>Examples include booking system conflicts resolved by isolation and payment confirmations safeguarded by durability.</a:t>
            </a:r>
          </a:p>
        </p:txBody>
      </p:sp>
    </p:spTree>
    <p:extLst>
      <p:ext uri="{BB962C8B-B14F-4D97-AF65-F5344CB8AC3E}">
        <p14:creationId xmlns:p14="http://schemas.microsoft.com/office/powerpoint/2010/main" val="1010547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8FF13-2E66-72D5-6965-219B4E1971AF}"/>
              </a:ext>
            </a:extLst>
          </p:cNvPr>
          <p:cNvSpPr>
            <a:spLocks noGrp="1"/>
          </p:cNvSpPr>
          <p:nvPr>
            <p:ph type="title"/>
          </p:nvPr>
        </p:nvSpPr>
        <p:spPr>
          <a:xfrm>
            <a:off x="419559" y="691867"/>
            <a:ext cx="6664559" cy="1217340"/>
          </a:xfrm>
        </p:spPr>
        <p:txBody>
          <a:bodyPr anchor="t">
            <a:normAutofit/>
          </a:bodyPr>
          <a:lstStyle/>
          <a:p>
            <a:r>
              <a:rPr lang="en-US"/>
              <a:t>Conclusion</a:t>
            </a:r>
          </a:p>
        </p:txBody>
      </p:sp>
      <p:sp>
        <p:nvSpPr>
          <p:cNvPr id="4" name="Content Placeholder 3">
            <a:extLst>
              <a:ext uri="{FF2B5EF4-FFF2-40B4-BE49-F238E27FC236}">
                <a16:creationId xmlns:a16="http://schemas.microsoft.com/office/drawing/2014/main" id="{09C3058C-40E8-F3C9-AE11-C277601E49C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2217" y="2010699"/>
            <a:ext cx="6661902" cy="4330851"/>
          </a:xfrm>
        </p:spPr>
        <p:txBody>
          <a:bodyPr>
            <a:normAutofit/>
          </a:bodyPr>
          <a:lstStyle/>
          <a:p>
            <a:pPr marL="0" indent="0">
              <a:lnSpc>
                <a:spcPct val="110000"/>
              </a:lnSpc>
              <a:spcBef>
                <a:spcPts val="2500"/>
              </a:spcBef>
              <a:buFont typeface="Arial" panose="020B0604020202020204" pitchFamily="34" charset="0"/>
              <a:buNone/>
            </a:pPr>
            <a:r>
              <a:rPr lang="en-US" b="1"/>
              <a:t>Role of Database Transactions</a:t>
            </a:r>
          </a:p>
          <a:p>
            <a:pPr marL="0" lvl="1" indent="0">
              <a:lnSpc>
                <a:spcPct val="110000"/>
              </a:lnSpc>
              <a:buFont typeface="Arial" panose="020B0604020202020204" pitchFamily="34" charset="0"/>
              <a:buNone/>
            </a:pPr>
            <a:r>
              <a:rPr lang="en-US"/>
              <a:t>Transactions combine related database operations into a single unit, preventing partial updates and ensuring data correctness.</a:t>
            </a:r>
          </a:p>
          <a:p>
            <a:pPr marL="0" indent="0">
              <a:lnSpc>
                <a:spcPct val="110000"/>
              </a:lnSpc>
              <a:spcBef>
                <a:spcPts val="2500"/>
              </a:spcBef>
              <a:buFont typeface="Arial" panose="020B0604020202020204" pitchFamily="34" charset="0"/>
              <a:buNone/>
            </a:pPr>
            <a:r>
              <a:rPr lang="en-US" b="1"/>
              <a:t>ACID Properties Importance</a:t>
            </a:r>
          </a:p>
          <a:p>
            <a:pPr marL="0" lvl="1" indent="0">
              <a:lnSpc>
                <a:spcPct val="110000"/>
              </a:lnSpc>
              <a:buFont typeface="Arial" panose="020B0604020202020204" pitchFamily="34" charset="0"/>
              <a:buNone/>
            </a:pPr>
            <a:r>
              <a:rPr lang="en-US"/>
              <a:t>ACID enforces integrity, consistency, isolation, and durability to protect data in all scenarios.</a:t>
            </a:r>
          </a:p>
          <a:p>
            <a:pPr marL="0" indent="0">
              <a:lnSpc>
                <a:spcPct val="110000"/>
              </a:lnSpc>
              <a:spcBef>
                <a:spcPts val="2500"/>
              </a:spcBef>
              <a:buFont typeface="Arial" panose="020B0604020202020204" pitchFamily="34" charset="0"/>
              <a:buNone/>
            </a:pPr>
            <a:r>
              <a:rPr lang="en-US" b="1"/>
              <a:t>Real-World Applications</a:t>
            </a:r>
          </a:p>
          <a:p>
            <a:pPr marL="0" lvl="1" indent="0">
              <a:lnSpc>
                <a:spcPct val="110000"/>
              </a:lnSpc>
              <a:buFont typeface="Arial" panose="020B0604020202020204" pitchFamily="34" charset="0"/>
              <a:buNone/>
            </a:pPr>
            <a:r>
              <a:rPr lang="en-US"/>
              <a:t>Banking, e-commerce, and reservation systems require ACID compliance to avoid errors like lost money or duplicate bookings.</a:t>
            </a:r>
          </a:p>
          <a:p>
            <a:pPr marL="0" indent="0">
              <a:lnSpc>
                <a:spcPct val="110000"/>
              </a:lnSpc>
              <a:spcBef>
                <a:spcPts val="2500"/>
              </a:spcBef>
              <a:buFont typeface="Arial" panose="020B0604020202020204" pitchFamily="34" charset="0"/>
              <a:buNone/>
            </a:pPr>
            <a:r>
              <a:rPr lang="en-US" b="1"/>
              <a:t>User Confidence and Scalability</a:t>
            </a:r>
          </a:p>
          <a:p>
            <a:pPr marL="0" lvl="1" indent="0">
              <a:lnSpc>
                <a:spcPct val="110000"/>
              </a:lnSpc>
              <a:buFont typeface="Arial" panose="020B0604020202020204" pitchFamily="34" charset="0"/>
              <a:buNone/>
            </a:pPr>
            <a:r>
              <a:rPr lang="en-US"/>
              <a:t>ACID-compliant transactions build user trust by securing data accuracy and enabling systems to handle failures gracefully.</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E3CFE9FA-C23F-4075-88F3-DB58D257B1B4}"/>
              </a:ext>
            </a:extLst>
          </p:cNvPr>
          <p:cNvPicPr>
            <a:picLocks noGrp="1" noChangeAspect="1"/>
          </p:cNvPicPr>
          <p:nvPr>
            <p:ph type="pic" sz="quarter" idx="13"/>
          </p:nvPr>
        </p:nvPicPr>
        <p:blipFill>
          <a:blip r:embed="rId3"/>
          <a:srcRect l="25610" r="29061" b="1"/>
          <a:stretch>
            <a:fillRect/>
          </a:stretch>
        </p:blipFill>
        <p:spPr>
          <a:xfrm>
            <a:off x="7620000" y="533400"/>
            <a:ext cx="4038600" cy="5791200"/>
          </a:xfrm>
        </p:spPr>
      </p:pic>
    </p:spTree>
    <p:extLst>
      <p:ext uri="{BB962C8B-B14F-4D97-AF65-F5344CB8AC3E}">
        <p14:creationId xmlns:p14="http://schemas.microsoft.com/office/powerpoint/2010/main" val="2400479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Lines</vt:lpstr>
      <vt:lpstr> Transactions and ACID Properties</vt:lpstr>
      <vt:lpstr> Transactions and ACID Properties</vt:lpstr>
      <vt:lpstr>Introduction to  Transactions</vt:lpstr>
      <vt:lpstr>What is a Database Transaction?</vt:lpstr>
      <vt:lpstr>Transaction States</vt:lpstr>
      <vt:lpstr>ACID Properties Overview</vt:lpstr>
      <vt:lpstr>Atomicity and Consistency</vt:lpstr>
      <vt:lpstr>Isolation and Durability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rajpurohith.12115354@lpu.in</dc:creator>
  <cp:lastModifiedBy>rajpurohith.12115354@lpu.in</cp:lastModifiedBy>
  <cp:revision>19</cp:revision>
  <dcterms:modified xsi:type="dcterms:W3CDTF">2026-05-02T05:32:33Z</dcterms:modified>
</cp:coreProperties>
</file>